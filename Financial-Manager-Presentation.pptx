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35508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263640"/>
            <a:ext cx="12191695" cy="914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6868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0F172A"/>
                </a:solidFill>
                <a:latin typeface="Arial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2412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B981"/>
                </a:solidFill>
                <a:latin typeface="Arial"/>
              </a:rPr>
              <a:t>FINANCIAL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33502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Arial"/>
              </a:rPr>
              <a:t>Local-first personal finance, encrypted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A private finance tracker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with a built-in AI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4A3B8"/>
                </a:solidFill>
                <a:latin typeface="Arial"/>
              </a:rPr>
              <a:t>Your money data never leaves your machine unencrypted — and an AI assistant that respects that boundary by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74920"/>
            <a:ext cx="3168396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074920"/>
            <a:ext cx="30220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AES-256-GCM encrypted at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4236" y="5074920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7388" y="5074920"/>
            <a:ext cx="16779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Per-user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5074920"/>
            <a:ext cx="2208276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5074920"/>
            <a:ext cx="20619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Claude-powered 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0" y="5074920"/>
            <a:ext cx="1632204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5652" y="5074920"/>
            <a:ext cx="14859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Self-hostable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Arial"/>
              </a:rPr>
              <a:t>Team Presentation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Concept, Motive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02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9584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29584" cy="109728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9280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0008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  <a:latin typeface="Arial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3026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A local-first personal finance tracker.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Accounts, transactions, budgets, net worth,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goals &amp; credit — plus an AI assistant.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No remote database: everything lives in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per-user encrypted SQLite files on disk.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529584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529584" cy="10972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63440" y="189280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89280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B82F6"/>
                </a:solidFill>
                <a:latin typeface="Arial"/>
              </a:rPr>
              <a:t>MOTIVE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50008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  <a:latin typeface="Arial"/>
              </a:rPr>
              <a:t>Why 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3026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Finance apps demand the most sensitive data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you have — then store it on someone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else's servers.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We wanted full insight into our money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without surrendering custody of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00200"/>
            <a:ext cx="3529584" cy="3657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600200"/>
            <a:ext cx="3529584" cy="109728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189280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189280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rial"/>
              </a:rPr>
              <a:t>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50008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172A"/>
                </a:solidFill>
                <a:latin typeface="Arial"/>
              </a:rPr>
              <a:t>What it delivers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80360"/>
            <a:ext cx="3026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Bank-grade encryption on every value,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kept entirely under user control.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A genuinely useful AI assistant that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only ever sees aggregates — unless you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75569"/>
                </a:solidFill>
                <a:latin typeface="Arial"/>
              </a:rPr>
              <a:t>explicitly opt in, per message.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532120"/>
            <a:ext cx="109453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Guiding principle:  </a:t>
            </a:r>
            <a:r>
              <a:rPr sz="1600" b="1" i="0">
                <a:solidFill>
                  <a:srgbClr val="059669"/>
                </a:solidFill>
                <a:latin typeface="Arial"/>
              </a:rPr>
              <a:t>“If the server is compromised, the attacker still gets nothing but ciphertext.”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Local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03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7040880" cy="768096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28016" cy="7680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Browser  ·  React 19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Client components · Tailwind CSS · Recharts · dnd-kit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.0" y="2368296"/>
            <a:ext cx="0.0" cy="16459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2532888"/>
            <a:ext cx="7040880" cy="768096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128016" cy="7680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2432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Next.js 15 App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53512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Pages in app/  ·  server + client rendering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.0" y="3300984"/>
            <a:ext cx="0.0" cy="16459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465576"/>
            <a:ext cx="7040880" cy="768096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465576"/>
            <a:ext cx="128016" cy="7680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5701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API Routes  ·  app/api/*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Every route → getServerSession() → 401 if locked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9080.0" y="4233672"/>
            <a:ext cx="0.0" cy="16459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4398264"/>
            <a:ext cx="7040880" cy="768096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398264"/>
            <a:ext cx="128016" cy="768096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89704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lib/  service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18888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crypto.ts · session.ts · server-session.ts · db.ts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9080.0" y="5166360"/>
            <a:ext cx="0.0" cy="164592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5330952"/>
            <a:ext cx="7040880" cy="768096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330952"/>
            <a:ext cx="128016" cy="7680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2239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Arial"/>
              </a:rPr>
              <a:t>Per-user encrypted 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751576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data/users/{id}/finance.db  ·  better-sqlite3 · WAL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600200"/>
            <a:ext cx="3776472" cy="2788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783080"/>
            <a:ext cx="3227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B981"/>
                </a:solidFill>
                <a:latin typeface="Arial"/>
              </a:rPr>
              <a:t>STACK AT A GLANCE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21284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212848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Next.js 15 · React 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508199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508199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TypeScript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2803550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Styling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803550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Tailwind CSS 3 (dark mode)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3098901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098901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better-sqlite3 (per user)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339425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394252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3689603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Drag &amp; drop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689603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@dnd-kit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3984954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4A3B8"/>
                </a:solidFill>
                <a:latin typeface="Arial"/>
              </a:rPr>
              <a:t>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984954"/>
            <a:ext cx="1947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@anthropic-ai/sdk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526280"/>
            <a:ext cx="3776472" cy="1874519"/>
          </a:xfrm>
          <a:prstGeom prst="roundRect">
            <a:avLst>
              <a:gd name="adj" fmla="val 7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6448" y="4681728"/>
            <a:ext cx="32278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59669"/>
                </a:solidFill>
                <a:latin typeface="Arial"/>
              </a:rPr>
              <a:t>🔒  ENCRYPTED AT REST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5029200"/>
            <a:ext cx="32278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AES-256-GCM on every sensitive field (the _enc columns).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Key = PBKDF2-SHA256, 310,000 iterations from the user's password.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The key lives only in a signed cookie — never on disk.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Deployed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04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975104" cy="1554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334155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F172A"/>
                </a:solidFill>
                <a:latin typeface="Arial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9464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986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HTTPS  ·  force_https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8467" y="1965960"/>
            <a:ext cx="1975104" cy="15544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8467" y="2093976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F172A"/>
                </a:solidFill>
                <a:latin typeface="Arial"/>
              </a:rPr>
              <a:t>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8467" y="2569464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Fly.io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1619" y="28986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Anycast  ·  region iad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auto-starts on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8295" y="1965960"/>
            <a:ext cx="1975104" cy="15544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8295" y="2093976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F172A"/>
                </a:solidFill>
                <a:latin typeface="Arial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8295" y="2569464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Firecracker microVM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28986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shared-cpu-1x · 512 MB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scale-to-zero when idle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123" y="1965960"/>
            <a:ext cx="1975104" cy="15544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123" y="2093976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F172A"/>
                </a:solidFill>
                <a:latin typeface="Arial"/>
              </a:rPr>
              <a:t>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123" y="2569464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Next.js standalone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275" y="28986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Docker image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node server.js  ·  :3000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7951" y="1965960"/>
            <a:ext cx="1975104" cy="15544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9050">
            <a:solidFill>
              <a:srgbClr val="8B5CF6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7951" y="2093976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0F172A"/>
                </a:solidFill>
                <a:latin typeface="Arial"/>
              </a:rP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951" y="2569464"/>
            <a:ext cx="1975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Fly Volume  fm_data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1103" y="289864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3 GB → /app/data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encrypted SQLite persists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23744" y="2743200.0"/>
            <a:ext cx="304723.75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03571.75" y="2743200.0"/>
            <a:ext cx="304723.75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83399.5" y="2743200.0"/>
            <a:ext cx="304723.75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63227.25" y="2743200.0"/>
            <a:ext cx="304723.75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" y="3977639"/>
            <a:ext cx="6949440" cy="2331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1605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0B981"/>
                </a:solidFill>
                <a:latin typeface="Arial"/>
              </a:rPr>
              <a:t>HOW IT'S DEPLOYED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52628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flyctl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5262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Builds the multi-stage Dockerfile, pushes the image to Fly's registry, and boots a Firecracker microVM — no servers to manage.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09320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Scale-to-zero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09320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auto_stop_machines + min_machines_running = 0: the VM sleeps when idle and auto-starts on the next request — pay ~nothing unused.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66013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Multi-stage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566013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Alpine build stage compiles the better-sqlite3 native module; runtime ships only the Next.js standalone output.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3977639"/>
            <a:ext cx="3913632" cy="2331720"/>
          </a:xfrm>
          <a:prstGeom prst="roundRect">
            <a:avLst>
              <a:gd name="adj" fmla="val 7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1605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59669"/>
                </a:solidFill>
                <a:latin typeface="Arial"/>
              </a:rPr>
              <a:t>ONE-COMMAND 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55371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Courier New"/>
              </a:rPr>
              <a:t>$ </a:t>
            </a:r>
            <a:r>
              <a:rPr sz="1300" b="1" i="0">
                <a:solidFill>
                  <a:srgbClr val="0F172A"/>
                </a:solidFill>
                <a:latin typeface="Courier New"/>
              </a:rPr>
              <a:t>fly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983480"/>
            <a:ext cx="3429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Arial"/>
              </a:rPr>
              <a:t>• Persistent Fly Volume (fm_data, 3 GB) keeps every per-user finance.db across restarts.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Arial"/>
              </a:rPr>
              <a:t>• force_https + shared-cpu-1x microVM in iad (US-East).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155"/>
                </a:solidFill>
                <a:latin typeface="Arial"/>
              </a:rPr>
              <a:t>• Same Dockerfile runs locally via docker compose.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Claude Code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05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Arial"/>
              </a:rPr>
              <a:t>Project-scoped </a:t>
            </a:r>
            <a:r>
              <a:rPr sz="1400" b="1" i="0">
                <a:solidFill>
                  <a:srgbClr val="8B5CF6"/>
                </a:solidFill>
                <a:latin typeface="Arial"/>
              </a:rPr>
              <a:t>agents</a:t>
            </a:r>
            <a:r>
              <a:rPr sz="1400" b="0" i="0">
                <a:solidFill>
                  <a:srgbClr val="334155"/>
                </a:solidFill>
                <a:latin typeface="Arial"/>
              </a:rPr>
              <a:t> and </a:t>
            </a:r>
            <a:r>
              <a:rPr sz="1400" b="1" i="0">
                <a:solidFill>
                  <a:srgbClr val="059669"/>
                </a:solidFill>
                <a:latin typeface="Arial"/>
              </a:rPr>
              <a:t>skills</a:t>
            </a:r>
            <a:r>
              <a:rPr sz="1400" b="0" i="0">
                <a:solidFill>
                  <a:srgbClr val="334155"/>
                </a:solidFill>
                <a:latin typeface="Arial"/>
              </a:rPr>
              <a:t> live in </a:t>
            </a:r>
            <a:r>
              <a:rPr sz="1400" b="1" i="0">
                <a:solidFill>
                  <a:srgbClr val="0F172A"/>
                </a:solidFill>
                <a:latin typeface="Arial"/>
              </a:rPr>
              <a:t>.claude/</a:t>
            </a:r>
            <a:r>
              <a:rPr sz="1400" b="0" i="0">
                <a:solidFill>
                  <a:srgbClr val="334155"/>
                </a:solidFill>
                <a:latin typeface="Arial"/>
              </a:rPr>
              <a:t> — they teach Claude this repo's exact conventions, so changes land consistent and review-ready.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B5CF6"/>
                </a:solidFill>
                <a:latin typeface="Arial"/>
              </a:rPr>
              <a:t>🤖  AGENTS  ·  .claude/agents/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5CF6"/>
                </a:solidFill>
                <a:latin typeface="Arial"/>
              </a:rPr>
              <a:t>api-route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0604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Scaffolds an app/api route with the session guard, encrypt/decrypt rules, uuidv4 IDs &amp; transaction wrapping baked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5CF6"/>
                </a:solidFill>
                <a:latin typeface="Arial"/>
              </a:rPr>
              <a:t>db-migration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5468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Writes a correct migrateToVN(), guards on user_version, and wires it into initSchema().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B5CF6"/>
                </a:solidFill>
                <a:latin typeface="Arial"/>
              </a:rPr>
              <a:t>feature-page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703320"/>
            <a:ext cx="3474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Builds a new page with the auth gate, fetch pattern, dark-mode Tailwind &amp; nav entry.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057400"/>
            <a:ext cx="5440680" cy="224028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19456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59669"/>
                </a:solidFill>
                <a:latin typeface="Arial"/>
              </a:rPr>
              <a:t>📚  SKILLS  ·  .claude/skills/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78608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add-api-route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57860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Full GET/POST/PUT/DELETE template + the route's hard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999232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add-migration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9992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Step-by-step schema-change recipe with field-naming conventions.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419856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add-page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4198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Auth gating, loading skeletons, nav wiring &amp; dark-mode pairs.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40480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Arial"/>
              </a:rPr>
              <a:t>encryption-patterns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3840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155"/>
                </a:solidFill>
                <a:latin typeface="Arial"/>
              </a:rPr>
              <a:t>Reference for deriveKey / encrypt / decrypt &amp; nullable _enc fields.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709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WHY IT SPEEDS UP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120640"/>
            <a:ext cx="3456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B981"/>
                </a:solidFill>
                <a:latin typeface="Arial"/>
              </a:rPr>
              <a:t>Conventions, encoded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504688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Encryption rules, the session guard &amp; migration pattern are captured once — not re-explained each task.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5120640"/>
            <a:ext cx="3456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B981"/>
                </a:solidFill>
                <a:latin typeface="Arial"/>
              </a:rPr>
              <a:t>Consistency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504688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Every new route/page/migration follows the same shape, so reviews stay fast and bugs stay rare.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120640"/>
            <a:ext cx="3456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B981"/>
                </a:solidFill>
                <a:latin typeface="Arial"/>
              </a:rPr>
              <a:t>Security stays intact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5504688"/>
            <a:ext cx="34564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Agents never emit a plaintext column for an _enc field or skip getServerSession() — the risky mistakes.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App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06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91440" cy="1481328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824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099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Monthly income/expense, savings rate, category donut, 6-month trends, budget &amp; debt progress, quick-log.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2015" y="15544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22015" y="1554480"/>
            <a:ext cx="91440" cy="148132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0615" y="16824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1823" y="17099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615" y="21579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Drag-and-drop list across 6 account types; balances, APR, limits; statement modal with running balance.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390" y="15544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95390" y="1554480"/>
            <a:ext cx="91440" cy="1481328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990" y="16824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5198" y="17099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990" y="21579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Monthly filtered ledger; add/edit/delete; income/expense/transfer; recurring templates.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8765" y="15544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8765" y="1554480"/>
            <a:ext cx="91440" cy="1481328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7365" y="16824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8573" y="17099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Spending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7365" y="21579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Category-level analysis vs. prior periods, top-categories ranking, budget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1546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91440" cy="1481328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2826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310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Wealth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581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Net worth over time, asset-vs-debt donut, account composition, debt-to-asset ratio.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2015" y="31546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22015" y="3154680"/>
            <a:ext cx="91440" cy="148132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0615" y="32826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🗺️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1823" y="3310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Planning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0615" y="37581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Cash-flow forecast of scheduled transactions + a goals board with target dates.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390" y="31546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95390" y="3154680"/>
            <a:ext cx="91440" cy="1481328"/>
          </a:xfrm>
          <a:prstGeom prst="roundRect">
            <a:avLst>
              <a:gd name="adj" fmla="val 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3990" y="32826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5198" y="3310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Credit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3990" y="37581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Credit-score history, per-card utilization (30% marker), debt-payoff progress.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8765" y="31546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68765" y="3154680"/>
            <a:ext cx="91440" cy="1481328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7365" y="32826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8573" y="33101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Goals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7365" y="37581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Color-coded savings goals with targets, dates &amp; progress visualization.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7548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4754880"/>
            <a:ext cx="91440" cy="1481328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8828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49103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3583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Annual summaries, CSV export &amp; charts for deeper review.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22015" y="47548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322015" y="4754880"/>
            <a:ext cx="91440" cy="1481328"/>
          </a:xfrm>
          <a:prstGeom prst="roundRect">
            <a:avLst>
              <a:gd name="adj" fmla="val 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50615" y="48828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71823" y="49103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Profile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50615" y="53583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Username/password change, encrypted data export, account settings.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5390" y="47548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95390" y="4754880"/>
            <a:ext cx="91440" cy="148132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3990" y="48828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45198" y="49103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AI Chat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3990" y="53583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Streaming finance assistant with encrypted session history (next slide).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8765" y="475488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868765" y="4754880"/>
            <a:ext cx="91440" cy="1481328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97365" y="4882896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1E293B"/>
                </a:solidFill>
                <a:latin typeface="Arial"/>
              </a:rPr>
              <a:t>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18573" y="49103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Arial"/>
              </a:rPr>
              <a:t>Dark mode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7365" y="5358384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475569"/>
                </a:solidFill>
                <a:latin typeface="Arial"/>
              </a:rPr>
              <a:t>Full dark-mode theme toggled across every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AI Chat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07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155"/>
                </a:solidFill>
                <a:latin typeface="Arial"/>
              </a:rPr>
              <a:t>A streamlined </a:t>
            </a:r>
            <a:r>
              <a:rPr sz="1400" b="1" i="0">
                <a:solidFill>
                  <a:srgbClr val="8B5CF6"/>
                </a:solidFill>
                <a:latin typeface="Arial"/>
              </a:rPr>
              <a:t>2-call pipeline</a:t>
            </a:r>
            <a:r>
              <a:rPr sz="1400" b="0" i="0">
                <a:solidFill>
                  <a:srgbClr val="334155"/>
                </a:solidFill>
                <a:latin typeface="Arial"/>
              </a:rPr>
              <a:t> — the only place decrypted data leaves the device, and even then only aggregates by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Arial"/>
              </a:rPr>
              <a:t>User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05740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2219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2221992"/>
            <a:ext cx="7680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CALL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2221992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221992"/>
            <a:ext cx="14813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3B82F6"/>
                </a:solidFill>
                <a:latin typeface="Arial"/>
              </a:rPr>
              <a:t>claude-haiku-4-5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classifyAndGuard()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535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Arial"/>
              </a:rPr>
              <a:t>Gate unsafe / off-topic → pick lookups  ·  cheap, fast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05740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8B5CF6"/>
            </a:solidFill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2219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221992"/>
            <a:ext cx="7680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CALL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96328" y="22219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221992"/>
            <a:ext cx="15453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8B5CF6"/>
                </a:solidFill>
                <a:latin typeface="Arial"/>
              </a:rPr>
              <a:t>claude-sonnet-4-6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streamAnswer()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535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155"/>
                </a:solidFill>
                <a:latin typeface="Arial"/>
              </a:rPr>
              <a:t>Cached system + aggregates → streams the reply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286000"/>
            <a:ext cx="2148840" cy="9601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286000"/>
            <a:ext cx="2148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💬 SSE stream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deltas → suggestions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→ done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766060.0"/>
            <a:ext cx="411480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2766060.0"/>
            <a:ext cx="411480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2766060.0"/>
            <a:ext cx="411480" cy="0.0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77840" y="20116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intents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3675888"/>
            <a:ext cx="653796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3675888"/>
            <a:ext cx="63916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Two-model split:  </a:t>
            </a:r>
            <a:r>
              <a:rPr sz="1200" b="1" i="0">
                <a:solidFill>
                  <a:srgbClr val="3B82F6"/>
                </a:solidFill>
                <a:latin typeface="Arial"/>
              </a:rPr>
              <a:t>Haiku 4.5</a:t>
            </a:r>
            <a:r>
              <a:rPr sz="1200" b="0" i="0">
                <a:solidFill>
                  <a:srgbClr val="334155"/>
                </a:solidFill>
                <a:latin typeface="Arial"/>
              </a:rPr>
              <a:t> guards &amp; routes, </a:t>
            </a:r>
            <a:r>
              <a:rPr sz="1200" b="1" i="0">
                <a:solidFill>
                  <a:srgbClr val="8B5CF6"/>
                </a:solidFill>
                <a:latin typeface="Arial"/>
              </a:rPr>
              <a:t>Sonnet 4.6</a:t>
            </a:r>
            <a:r>
              <a:rPr sz="1200" b="0" i="0">
                <a:solidFill>
                  <a:srgbClr val="334155"/>
                </a:solidFill>
                <a:latin typeface="Arial"/>
              </a:rPr>
              <a:t> answers  ·  system prompt cached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9768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46227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Arial"/>
              </a:rPr>
              <a:t>🔐  PRIVACY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64608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Default: aggregates only — balances, category totals, budget status, net worth.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Row-level transaction detail is sent ONLY when you flip the per-message “Include transaction detail” toggle.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34155"/>
                </a:solidFill>
                <a:latin typeface="Arial"/>
              </a:rPr>
              <a:t>• Nothing else ever leaves the device in plaintext.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297680"/>
            <a:ext cx="5440680" cy="2057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46227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💾  ENCRYPTED CHAT 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864608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2E8F0"/>
                </a:solidFill>
                <a:latin typeface="Arial"/>
              </a:rPr>
              <a:t>• Sessions &amp; messages persist in the per-user finance.db (migration v15).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2E8F0"/>
                </a:solidFill>
                <a:latin typeface="Arial"/>
              </a:rPr>
              <a:t>• Stored as title_enc / content_enc — same AES-256-GCM key as the rest of your data.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E2E8F0"/>
                </a:solidFill>
                <a:latin typeface="Arial"/>
              </a:rPr>
              <a:t>• Multi-turn history, rename &amp; delete sessions; suggested prompts to start.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Arial"/>
              </a:rP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Arial"/>
              </a:rP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4A3B8"/>
                </a:solidFill>
                <a:latin typeface="Arial"/>
              </a:rPr>
              <a:t>08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0058400" cy="2540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2788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0B981"/>
                </a:solidFill>
                <a:latin typeface="Arial"/>
              </a:rPr>
              <a:t>lib/ai/  —  the assistant in four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Courier New"/>
              </a:rPr>
              <a:t>client.ts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128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Anthropic client + model constants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1576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Courier New"/>
              </a:rPr>
              <a:t>pipeline.ts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1576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classifyAndGuard() + streamAnswer()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Courier New"/>
              </a:rPr>
              <a:t>finance-context.ts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1868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Decrypts DB → aggregate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2160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Courier New"/>
              </a:rPr>
              <a:t>chat-store.ts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2160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E2E8F0"/>
                </a:solidFill>
                <a:latin typeface="Arial"/>
              </a:rPr>
              <a:t>Encrypted sessions / messages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148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4A3B8"/>
                </a:solidFill>
                <a:latin typeface="Arial"/>
              </a:rPr>
              <a:t>Streamed over SSE from app/api/chat/stream/route.ts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5440680" cy="65836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1554480"/>
            <a:ext cx="91440" cy="658368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645920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Token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1911096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Server-Sent Events push session → deltas → suggestions → done; the UI renders the reply as it generates.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276856"/>
            <a:ext cx="5440680" cy="65836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2276856"/>
            <a:ext cx="91440" cy="658368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368296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Intent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633472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Call 1 returns structured intents (accounts, spending, income, budget, transactions) so only needed data is decrypted.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999232"/>
            <a:ext cx="5440680" cy="65836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2999232"/>
            <a:ext cx="91440" cy="658368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3090672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Guardrail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3355848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Unsafe or off-topic asks are refused before any financial data is touched.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721608"/>
            <a:ext cx="5440680" cy="65836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9632" y="3721608"/>
            <a:ext cx="91440" cy="658368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3813048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Arial"/>
              </a:rPr>
              <a:t>Same-key encryption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078224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Chat content reuses the user's derived key — no separate secret, no plaintext history.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7823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RECENT OPTIMIZATIONS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5184648"/>
            <a:ext cx="54864" cy="713232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129784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Haiku for the guard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" y="545896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Arial"/>
              </a:rPr>
              <a:t>Call 1 now runs on claude-haiku-4-5 — the routing &amp; safety pass is ~3–5× cheaper and faster, with no quality loss.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8" y="5184648"/>
            <a:ext cx="54864" cy="713232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08576" y="5129784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Prompt caching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545896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Arial"/>
              </a:rPr>
              <a:t>The generator's system block is cached (ephemeral) — up to ~90% off repeated input tokens on follow-up turns.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5184648"/>
            <a:ext cx="54864" cy="713232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5129784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Follow-up chips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4736" y="545896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4A3B8"/>
                </a:solidFill>
                <a:latin typeface="Arial"/>
              </a:rPr>
              <a:t>Suggestions generated on the cheap model after each answer streams — richer UX, zero added latency.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99632"/>
            <a:ext cx="11091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59669"/>
                </a:solidFill>
                <a:latin typeface="Arial"/>
              </a:rPr>
              <a:t>Useful AI, without the privacy trade-off</a:t>
            </a:r>
            <a:r>
              <a:rPr sz="1350" b="0" i="0">
                <a:solidFill>
                  <a:srgbClr val="64748B"/>
                </a:solidFill>
                <a:latin typeface="Arial"/>
              </a:rPr>
              <a:t>    encrypted at rest  ·  self-hostable  ·  aggregates by 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